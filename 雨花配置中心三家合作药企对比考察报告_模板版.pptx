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8"/>
            <a:ext cx="10512862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634" y="4589463"/>
            <a:ext cx="1051286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441" y="1600200"/>
            <a:ext cx="53752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4112" y="1600200"/>
            <a:ext cx="53752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69" y="365125"/>
            <a:ext cx="10512862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466" y="1778438"/>
            <a:ext cx="487230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466" y="2665379"/>
            <a:ext cx="487230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5309" y="1778438"/>
            <a:ext cx="489630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5309" y="2665379"/>
            <a:ext cx="489630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69" y="457200"/>
            <a:ext cx="3931213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1838" y="987425"/>
            <a:ext cx="617059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569" y="2057400"/>
            <a:ext cx="3931213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69" y="457200"/>
            <a:ext cx="416426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838" y="457201"/>
            <a:ext cx="6170593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569" y="2057400"/>
            <a:ext cx="4164265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6898" y="274638"/>
            <a:ext cx="2742486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441" y="274638"/>
            <a:ext cx="8068472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8"/>
            <a:ext cx="10512862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634" y="4589463"/>
            <a:ext cx="1051286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441" y="1600200"/>
            <a:ext cx="53752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4112" y="1600200"/>
            <a:ext cx="53752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69" y="365125"/>
            <a:ext cx="10512862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466" y="1778438"/>
            <a:ext cx="487230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466" y="2665379"/>
            <a:ext cx="487230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5309" y="1778438"/>
            <a:ext cx="489630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5309" y="2665379"/>
            <a:ext cx="489630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69" y="457200"/>
            <a:ext cx="3931213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1838" y="987425"/>
            <a:ext cx="617059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569" y="2057400"/>
            <a:ext cx="3931213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69" y="457200"/>
            <a:ext cx="416426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838" y="457201"/>
            <a:ext cx="6170593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569" y="2057400"/>
            <a:ext cx="4164265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6898" y="274638"/>
            <a:ext cx="2742486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441" y="274638"/>
            <a:ext cx="8068472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标题 6145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147" name="文本占位符 6146"/>
          <p:cNvSpPr>
            <a:spLocks noGrp="1"/>
          </p:cNvSpPr>
          <p:nvPr>
            <p:ph type="body" idx="1"/>
          </p:nvPr>
        </p:nvSpPr>
        <p:spPr>
          <a:xfrm>
            <a:off x="609441" y="1600200"/>
            <a:ext cx="10969943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8" name="日期占位符 6147"/>
          <p:cNvSpPr>
            <a:spLocks noGrp="1"/>
          </p:cNvSpPr>
          <p:nvPr>
            <p:ph type="dt" sz="half" idx="2"/>
          </p:nvPr>
        </p:nvSpPr>
        <p:spPr>
          <a:xfrm>
            <a:off x="609441" y="6245225"/>
            <a:ext cx="2844059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149" name="页脚占位符 6148"/>
          <p:cNvSpPr>
            <a:spLocks noGrp="1"/>
          </p:cNvSpPr>
          <p:nvPr>
            <p:ph type="ftr" sz="quarter" idx="3"/>
          </p:nvPr>
        </p:nvSpPr>
        <p:spPr>
          <a:xfrm>
            <a:off x="4164515" y="6245225"/>
            <a:ext cx="385979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150" name="灯片编号占位符 6149"/>
          <p:cNvSpPr>
            <a:spLocks noGrp="1"/>
          </p:cNvSpPr>
          <p:nvPr>
            <p:ph type="sldNum" sz="quarter" idx="4"/>
          </p:nvPr>
        </p:nvSpPr>
        <p:spPr>
          <a:xfrm>
            <a:off x="8735325" y="6245225"/>
            <a:ext cx="2844059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151" name="图片 6150" descr="ppt封面中文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88825" cy="68611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609441" y="1600200"/>
            <a:ext cx="10969943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196" name="日期占位符 8195"/>
          <p:cNvSpPr>
            <a:spLocks noGrp="1"/>
          </p:cNvSpPr>
          <p:nvPr>
            <p:ph type="dt" sz="half" idx="2"/>
          </p:nvPr>
        </p:nvSpPr>
        <p:spPr>
          <a:xfrm>
            <a:off x="609441" y="6245225"/>
            <a:ext cx="2844059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7" name="页脚占位符 8196"/>
          <p:cNvSpPr>
            <a:spLocks noGrp="1"/>
          </p:cNvSpPr>
          <p:nvPr>
            <p:ph type="ftr" sz="quarter" idx="3"/>
          </p:nvPr>
        </p:nvSpPr>
        <p:spPr>
          <a:xfrm>
            <a:off x="4164515" y="6245225"/>
            <a:ext cx="385979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8" name="灯片编号占位符 8197"/>
          <p:cNvSpPr>
            <a:spLocks noGrp="1"/>
          </p:cNvSpPr>
          <p:nvPr>
            <p:ph type="sldNum" sz="quarter" idx="4"/>
          </p:nvPr>
        </p:nvSpPr>
        <p:spPr>
          <a:xfrm>
            <a:off x="8735325" y="6245225"/>
            <a:ext cx="2844059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199" name="图片 8198" descr="ppt内页1中文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88825" cy="68611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雨花配置中心三家合作药企对比考察报告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汇报日期：2026年05月28日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江苏省人民医院（雨花院区）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汇报目录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一、考察背景与评估模型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二、四章节对比结论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三、综合评分与排名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四、核心优势与短板分析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五、行动建议与风险提示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考察背景与对象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考察对象：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中国大冢制药有限公司（中日合资）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科伦集团（内资民营企业）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石家庄四药有限公司（香港上市公司）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考察目标：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为雨花院区1500张床、日配置量2500袋的PIVAS项目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选择最优合作企业，确保项目成功实施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加权评估模型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七大评估维度及权重：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1. 企业实力与资质（10%）- 合作稳定性与合规保障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 项目方案完整性（15%）- 设计→建设→运营全周期覆盖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3. 设备性能与技术水平（20%）- 核心硬件基础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4. 信息化系统（15%）- 管理软件与智能化水平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5. 服务与售后保障（15%）- 长期运行稳定性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6. 培训与学术资源（10%）- 科室能力建设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7. 风险可控性（15%）- 建设失败和服务缺位风险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一、企业概况对比结论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43940"/>
            <a:ext cx="11178540" cy="5698490"/>
          </a:xfrm>
        </p:spPr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科伦全面领先：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市值超1500亿，中国医药制造业TOP3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服务1000+医院，82人专职团队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深度参与国家PIVAS标准制定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大冢行业先驱：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2003年建设全国第一家静配中心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累计建设静配中心过百家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2010年11月全国第一批通过PIVAS验收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石四药实力雄厚：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香港上市公司，资产超100亿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拥有国家级药物研发平台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已有两个PIVAS项目中标经验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二、项目方案对比结论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115"/>
            <a:ext cx="10970260" cy="5412105"/>
          </a:xfrm>
        </p:spPr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设计理念：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大冢：技术驱动的智能化升级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科伦：医企协同的系统性服务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石四药：全流程服务能力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布局规划：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科伦：7条具体优化建议，工程兼容性最强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大冢：智能压差控制独特优势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设备性能：石四药全面领先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分拣速度：3500袋/小时（大冢1800）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洗筐效率：1600-2200个/小时（大冢1000）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摆药速度：1200-1500袋/小时（大冢600-800）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三、服务模式对比结论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70610"/>
            <a:ext cx="10970260" cy="5689600"/>
          </a:xfrm>
        </p:spPr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科伦服务最完善：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四阶段服务模型（保基础→稳运行→促提升→展未来）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82人专职团队 + 16人售后团队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2小时响应，每月定期巡检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大冢服务务实：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全流程跟踪，拎包工程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明确培训体系（设备理论+实操+应急预案）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1小时响应，3小时远程，12小时到场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石四药服务能力：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具备全流程服务能力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60天完成深化设计，1年服务期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但具体团队配置、响应机制等关键信息缺失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四、技术优势对比结论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705" y="697230"/>
            <a:ext cx="10970260" cy="5932170"/>
          </a:xfrm>
        </p:spPr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石四药技术领先：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设备参数全面领先（分拣3500袋/小时等）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设备链最全（含统排机/机器人/独立贴签）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2项专利（舱内扫描系统）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蜘蛛机器人+智能视觉分拣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大冢环境控制优势：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智能远程控制系统2.0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智能压差自控系统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3项软件著作权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科伦信息化优势：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自主知识产权信创平台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工信部'数字三品'典型案例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卓越级智能工厂认证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54870" y="2604770"/>
            <a:ext cx="406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综合评分结果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评分标准：10分=行业领先，8-9分=优秀，6-7分=良好，4-5分=一般，2-3分=较差，1分=信息缺失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914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企业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企业实力</a:t>
                      </a:r>
                    </a:p>
                    <a:p>
                      <a:r>
                        <a:t>(10%)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方案完整</a:t>
                      </a:r>
                    </a:p>
                    <a:p>
                      <a:r>
                        <a:t>(15%)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设备技术</a:t>
                      </a:r>
                    </a:p>
                    <a:p>
                      <a:r>
                        <a:t>(20%)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信息化</a:t>
                      </a:r>
                    </a:p>
                    <a:p>
                      <a:r>
                        <a:t>(15%)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服务售后</a:t>
                      </a:r>
                    </a:p>
                    <a:p>
                      <a:r>
                        <a:t>(15%)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培训学术</a:t>
                      </a:r>
                    </a:p>
                    <a:p>
                      <a:r>
                        <a:t>(10%)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风险可控</a:t>
                      </a:r>
                    </a:p>
                    <a:p>
                      <a:r>
                        <a:t>(15%)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加权总分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科伦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8.70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大冢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7.55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石四药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6.70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核心优势与短板分析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60" y="575945"/>
            <a:ext cx="10970260" cy="5853430"/>
          </a:xfrm>
        </p:spPr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科伦：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✓ 企业实力最强、服务最完善、学术资源最雄厚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✓ 标准制定话语权、团队规模最大、风险最低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✗ 设备性能参数缺失，无法准确评估技术硬实力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大冢：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✓ PIVAS行业先驱（2003年最早进入）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✓ 远程环境控制与信息化有特色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✗ 设备速度保守，团队规模未披露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石四药：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✓ 设备参数全，技术文档最详细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✓ 企业实力雄厚（香港上市公司，资产超100亿）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✗ 服务团队配置、响应机制等关键信息缺失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行动建议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605" y="549910"/>
            <a:ext cx="10970260" cy="5689600"/>
          </a:xfrm>
        </p:spPr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P0 - 立即执行：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1. 要求科伦补全设备性能参数（贴签机/分拣机/洗筐机）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 与科伦深入商务洽谈（团队派驻方案、服务SLA、价格预算）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P1 - 近期执行：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1. 要求大冢明确团队配置（获取项目团队和售后团队规模）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 实地考察科伦标杆案例（鼓楼医院、苏大附一院）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3. 要求石四药补齐服务细节（团队配置、响应机制、培训体系）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P2 - 后续执行：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1. 考察大冢PIVAS项目案例（苏北人民医院等）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 考察石四药PIVAS项目案例（合肥市第三人民医院等）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3. 组织技术方案三方深度对比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风险提示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科伦：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设备性能参数缺失是主要风险点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需在合同中明确技术指标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石四药：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服务细节不透明是主要风险点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需在合作前明确所有服务承诺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大冢：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设备速度相对保守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可能无法满足未来业务量增长需求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3600">
                <a:solidFill>
                  <a:srgbClr val="003366"/>
                </a:solidFill>
                <a:latin typeface="微软雅黑" panose="020B0503020204020204" charset="-122"/>
                <a:ea typeface="微软雅黑" panose="020B0503020204020204" charset="-122"/>
              </a:rPr>
              <a:t>总结与建议</a:t>
            </a:r>
            <a:endParaRPr sz="3600">
              <a:solidFill>
                <a:srgbClr val="0033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680085"/>
            <a:ext cx="10970260" cy="5619750"/>
          </a:xfrm>
        </p:spPr>
        <p:txBody>
          <a:bodyPr/>
          <a:lstStyle/>
          <a:p/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综合评估结论：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科伦以8.70分排名第一，在7个维度中有5个维度评分领先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大冢以7.55分排名第二，PIVAS行业先驱，远程控制有特色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石四药以6.70分排名第三，设备技术领先但服务细节缺失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推荐建议：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1. 优先与科伦深入洽谈，要求补全设备参数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 将大冢作为备选方案，重点关注其行业经验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3. 要求石四药补齐服务信息后再考虑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br/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最终目标：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选择最优合作企业，确保雨花院区PIVAS项目成功实施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 打造国内领先、省内标杆的智慧型PIVAS</a:t>
            </a:r>
            <a:endParaRPr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新建 Microsoft PowerPoint 演示文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2143</Words>
  <Application>WPS 演示</Application>
  <PresentationFormat>On-screen Show (4:3)</PresentationFormat>
  <Paragraphs>240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新建 Microsoft PowerPoint 演示文稿</vt:lpstr>
      <vt:lpstr>自定义设计方案</vt:lpstr>
      <vt:lpstr>雨花配置中心三家合作药企对比考察报告</vt:lpstr>
      <vt:lpstr>汇报目录</vt:lpstr>
      <vt:lpstr>考察背景与对象</vt:lpstr>
      <vt:lpstr>加权评估模型</vt:lpstr>
      <vt:lpstr>一、企业概况对比结论</vt:lpstr>
      <vt:lpstr>二、项目方案对比结论</vt:lpstr>
      <vt:lpstr>三、服务模式对比结论</vt:lpstr>
      <vt:lpstr>四、技术优势对比结论</vt:lpstr>
      <vt:lpstr>综合评分结果</vt:lpstr>
      <vt:lpstr>核心优势与短板分析</vt:lpstr>
      <vt:lpstr>行动建议</vt:lpstr>
      <vt:lpstr>风险提示</vt:lpstr>
      <vt:lpstr>总结与建议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HUAWEI</cp:lastModifiedBy>
  <cp:revision>2</cp:revision>
  <dcterms:created xsi:type="dcterms:W3CDTF">2013-01-27T09:14:00Z</dcterms:created>
  <dcterms:modified xsi:type="dcterms:W3CDTF">2026-05-28T02:25:09Z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3F7D6248AFD344439B77A00AA004D069_12</vt:lpwstr>
  </property>
</Properties>
</file>